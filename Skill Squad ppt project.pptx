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28" r:id="rId4"/>
  </p:sldMasterIdLst>
  <p:notesMasterIdLst>
    <p:notesMasterId r:id="rId12"/>
  </p:notesMasterIdLst>
  <p:sldIdLst>
    <p:sldId id="292" r:id="rId5"/>
    <p:sldId id="1291" r:id="rId6"/>
    <p:sldId id="1292" r:id="rId7"/>
    <p:sldId id="1294" r:id="rId8"/>
    <p:sldId id="1293" r:id="rId9"/>
    <p:sldId id="1296" r:id="rId10"/>
    <p:sldId id="1250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CF8"/>
    <a:srgbClr val="1A7C73"/>
    <a:srgbClr val="EF6331"/>
    <a:srgbClr val="223366"/>
    <a:srgbClr val="00717D"/>
    <a:srgbClr val="C9D2ED"/>
    <a:srgbClr val="851910"/>
    <a:srgbClr val="0000FF"/>
    <a:srgbClr val="FFCD8C"/>
    <a:srgbClr val="9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96" y="924"/>
      </p:cViewPr>
      <p:guideLst>
        <p:guide orient="horz" pos="588"/>
        <p:guide pos="144"/>
        <p:guide orient="horz" pos="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2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 dirty="0">
                <a:solidFill>
                  <a:srgbClr val="223366"/>
                </a:solidFill>
              </a:rPr>
              <a:t>Thank You !!</a:t>
            </a:r>
            <a:endParaRPr lang="en-US" sz="1100" b="1" spc="-5" dirty="0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62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31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821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10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550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039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08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613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513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306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568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4063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89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448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34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441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96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569214"/>
            <a:ext cx="5692140" cy="306552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4053078"/>
            <a:ext cx="8636458" cy="43205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4690872"/>
            <a:ext cx="2222769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306" y="4690872"/>
            <a:ext cx="1259732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690872"/>
            <a:ext cx="409835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957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0491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78B0F9-A882-714F-9C27-FCBF1CD8987F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388D53-A1D4-D055-2182-B4FB79EFFFC1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87B88497-B7CE-AEA2-A107-142DCA8BBF89}"/>
              </a:ext>
            </a:extLst>
          </p:cNvPr>
          <p:cNvPicPr preferRelativeResize="0"/>
          <p:nvPr userDrawn="1"/>
        </p:nvPicPr>
        <p:blipFill rotWithShape="1">
          <a:blip r:embed="rId26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B0BF1CA-4FA4-0C9D-E60F-8723072A9E2C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66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  <p:sldLayoutId id="2147484040" r:id="rId12"/>
    <p:sldLayoutId id="2147484041" r:id="rId13"/>
    <p:sldLayoutId id="2147484042" r:id="rId14"/>
    <p:sldLayoutId id="2147484043" r:id="rId15"/>
    <p:sldLayoutId id="2147484044" r:id="rId16"/>
    <p:sldLayoutId id="2147484045" r:id="rId17"/>
    <p:sldLayoutId id="2147484046" r:id="rId18"/>
    <p:sldLayoutId id="2147484047" r:id="rId19"/>
    <p:sldLayoutId id="2147483701" r:id="rId20"/>
  </p:sldLayoutIdLst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1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48131F8-7219-F30F-23C3-B1A523F13B4D}"/>
              </a:ext>
            </a:extLst>
          </p:cNvPr>
          <p:cNvSpPr/>
          <p:nvPr/>
        </p:nvSpPr>
        <p:spPr>
          <a:xfrm>
            <a:off x="-1" y="0"/>
            <a:ext cx="9144000" cy="52046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highlight>
                <a:srgbClr val="E8ECF8"/>
              </a:highlight>
            </a:endParaRP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AE32C22C-3FDB-2396-2943-AFA12977BDA2}"/>
              </a:ext>
            </a:extLst>
          </p:cNvPr>
          <p:cNvGrpSpPr/>
          <p:nvPr/>
        </p:nvGrpSpPr>
        <p:grpSpPr>
          <a:xfrm>
            <a:off x="3208207" y="172444"/>
            <a:ext cx="2888517" cy="773873"/>
            <a:chOff x="-95698" y="-184519"/>
            <a:chExt cx="1991689" cy="363440"/>
          </a:xfr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D5D5B45-D48F-CBC2-FAE6-3C32D4CA4A54}"/>
                </a:ext>
              </a:extLst>
            </p:cNvPr>
            <p:cNvSpPr/>
            <p:nvPr/>
          </p:nvSpPr>
          <p:spPr>
            <a:xfrm>
              <a:off x="-95698" y="-184519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D4602096-BB2A-D06A-F2F9-A1B85FB7B21D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6" name="Freeform 13">
            <a:extLst>
              <a:ext uri="{FF2B5EF4-FFF2-40B4-BE49-F238E27FC236}">
                <a16:creationId xmlns:a16="http://schemas.microsoft.com/office/drawing/2014/main" id="{E92715B5-E2D3-4776-93F0-B360B5A59553}"/>
              </a:ext>
            </a:extLst>
          </p:cNvPr>
          <p:cNvSpPr/>
          <p:nvPr/>
        </p:nvSpPr>
        <p:spPr>
          <a:xfrm>
            <a:off x="1783618" y="199"/>
            <a:ext cx="1032349" cy="451764"/>
          </a:xfrm>
          <a:custGeom>
            <a:avLst/>
            <a:gdLst/>
            <a:ahLst/>
            <a:cxnLst/>
            <a:rect l="l" t="t" r="r" b="b"/>
            <a:pathLst>
              <a:path w="2102123" h="919905">
                <a:moveTo>
                  <a:pt x="0" y="0"/>
                </a:moveTo>
                <a:lnTo>
                  <a:pt x="2102123" y="0"/>
                </a:lnTo>
                <a:lnTo>
                  <a:pt x="2102123" y="919905"/>
                </a:lnTo>
                <a:lnTo>
                  <a:pt x="0" y="91990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106728" r="-65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93B0532-3834-38EB-306B-BB126F538A06}"/>
              </a:ext>
            </a:extLst>
          </p:cNvPr>
          <p:cNvSpPr/>
          <p:nvPr/>
        </p:nvSpPr>
        <p:spPr>
          <a:xfrm>
            <a:off x="151647" y="93093"/>
            <a:ext cx="770970" cy="773872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42FDAC4-AE27-C374-87FA-1488045722F0}"/>
              </a:ext>
            </a:extLst>
          </p:cNvPr>
          <p:cNvGrpSpPr/>
          <p:nvPr/>
        </p:nvGrpSpPr>
        <p:grpSpPr>
          <a:xfrm>
            <a:off x="3320627" y="286947"/>
            <a:ext cx="2659356" cy="451764"/>
            <a:chOff x="1516338" y="1159739"/>
            <a:chExt cx="3608846" cy="66046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&#10;&#10;Description automatically generated">
              <a:extLst>
                <a:ext uri="{FF2B5EF4-FFF2-40B4-BE49-F238E27FC236}">
                  <a16:creationId xmlns:a16="http://schemas.microsoft.com/office/drawing/2014/main" id="{321F3B6E-D5C9-7BFA-7BDB-50FF890BB65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97570DF-6F54-74D9-731F-612CF788DA56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&#10;&#10;Description automatically generated">
              <a:extLst>
                <a:ext uri="{FF2B5EF4-FFF2-40B4-BE49-F238E27FC236}">
                  <a16:creationId xmlns:a16="http://schemas.microsoft.com/office/drawing/2014/main" id="{D5514759-EB9F-E36E-1FFF-E3E7F1E44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F6E82E98-D0CF-7123-A3C9-D9B8A17D827D}"/>
              </a:ext>
            </a:extLst>
          </p:cNvPr>
          <p:cNvSpPr/>
          <p:nvPr/>
        </p:nvSpPr>
        <p:spPr>
          <a:xfrm>
            <a:off x="211671" y="806274"/>
            <a:ext cx="87206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glow rad="101600">
                    <a:schemeClr val="bg1">
                      <a:alpha val="6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Sales </a:t>
            </a:r>
            <a:r>
              <a:rPr lang="en-US" sz="4800" dirty="0">
                <a:ln w="0"/>
                <a:effectLst>
                  <a:glow rad="101600">
                    <a:schemeClr val="bg1">
                      <a:alpha val="6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Management</a:t>
            </a:r>
            <a:r>
              <a:rPr lang="en-US" sz="5400" dirty="0">
                <a:ln w="0"/>
                <a:effectLst>
                  <a:glow rad="101600">
                    <a:schemeClr val="bg1">
                      <a:alpha val="6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 System</a:t>
            </a:r>
            <a:endParaRPr lang="en-US" sz="5400" b="0" cap="none" spc="0" dirty="0">
              <a:ln w="0"/>
              <a:effectLst>
                <a:glow rad="101600">
                  <a:schemeClr val="bg1">
                    <a:alpha val="60000"/>
                  </a:schemeClr>
                </a:glow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BEBFCA9-B109-2B82-65B4-614C596D9C92}"/>
              </a:ext>
            </a:extLst>
          </p:cNvPr>
          <p:cNvSpPr/>
          <p:nvPr/>
        </p:nvSpPr>
        <p:spPr>
          <a:xfrm>
            <a:off x="2169859" y="1787347"/>
            <a:ext cx="51090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Sales Data Analysis &amp; Dashboard</a:t>
            </a:r>
            <a:endParaRPr lang="en-US" sz="24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1EC0E6-3B9C-0029-9F78-A957BC93991E}"/>
              </a:ext>
            </a:extLst>
          </p:cNvPr>
          <p:cNvSpPr/>
          <p:nvPr/>
        </p:nvSpPr>
        <p:spPr>
          <a:xfrm>
            <a:off x="3208207" y="2371269"/>
            <a:ext cx="3293609" cy="523220"/>
          </a:xfrm>
          <a:prstGeom prst="rect">
            <a:avLst/>
          </a:prstGeom>
          <a:noFill/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 Members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66C7E2-131C-903A-9DCD-90E61B692796}"/>
              </a:ext>
            </a:extLst>
          </p:cNvPr>
          <p:cNvSpPr txBox="1"/>
          <p:nvPr/>
        </p:nvSpPr>
        <p:spPr>
          <a:xfrm>
            <a:off x="3580897" y="3016746"/>
            <a:ext cx="2776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Nirupama  Dwivedi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Shreya Sharma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Trisha Upadhayay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Siddhi Kesharwani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57E92B-B7E1-F049-E463-46F072EDCB94}"/>
              </a:ext>
            </a:extLst>
          </p:cNvPr>
          <p:cNvSpPr/>
          <p:nvPr/>
        </p:nvSpPr>
        <p:spPr>
          <a:xfrm>
            <a:off x="6964476" y="4201148"/>
            <a:ext cx="201029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Guided by</a:t>
            </a:r>
          </a:p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Shailesh Yadav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2" name="jonasblakewood-technology-modern-533867">
            <a:hlinkClick r:id="" action="ppaction://media"/>
            <a:extLst>
              <a:ext uri="{FF2B5EF4-FFF2-40B4-BE49-F238E27FC236}">
                <a16:creationId xmlns:a16="http://schemas.microsoft.com/office/drawing/2014/main" id="{D9A0B7B1-E078-0BD9-A4B1-B646087E2C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5418" y="4595074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4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</p:childTnLst>
        </p:cTn>
      </p:par>
    </p:tnLst>
    <p:bldLst>
      <p:bldP spid="55" grpId="0"/>
      <p:bldP spid="56" grpId="0"/>
      <p:bldP spid="57" grpId="0" animBg="1"/>
      <p:bldP spid="58" grpId="0" build="p"/>
      <p:bldP spid="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EF2C99-616C-4081-33F8-5F50B4110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15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split orient="vert"/>
      </p:transition>
    </mc:Choice>
    <mc:Fallback>
      <p:transition spd="slow" advClick="0" advTm="3000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5078D-F8F7-912B-4E9C-BED71500ACC2}"/>
              </a:ext>
            </a:extLst>
          </p:cNvPr>
          <p:cNvSpPr txBox="1"/>
          <p:nvPr/>
        </p:nvSpPr>
        <p:spPr>
          <a:xfrm>
            <a:off x="3296489" y="507797"/>
            <a:ext cx="59819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2060"/>
                </a:solidFill>
                <a:effectLst>
                  <a:glow rad="101600">
                    <a:schemeClr val="tx2">
                      <a:lumMod val="75000"/>
                      <a:alpha val="60000"/>
                    </a:schemeClr>
                  </a:glow>
                </a:effectLst>
                <a:latin typeface="Arial"/>
                <a:ea typeface="Arial"/>
                <a:cs typeface="Arial"/>
                <a:sym typeface="Arial"/>
              </a:rPr>
              <a:t>Solution</a:t>
            </a:r>
            <a:endParaRPr lang="en-IN" sz="4400" dirty="0">
              <a:solidFill>
                <a:srgbClr val="213163"/>
              </a:solidFill>
              <a:effectLst>
                <a:glow rad="101600">
                  <a:schemeClr val="tx2">
                    <a:lumMod val="75000"/>
                    <a:alpha val="60000"/>
                  </a:schemeClr>
                </a:glow>
              </a:effectLst>
            </a:endParaRPr>
          </a:p>
        </p:txBody>
      </p:sp>
      <p:sp>
        <p:nvSpPr>
          <p:cNvPr id="26" name="Google Shape;134;p23">
            <a:extLst>
              <a:ext uri="{FF2B5EF4-FFF2-40B4-BE49-F238E27FC236}">
                <a16:creationId xmlns:a16="http://schemas.microsoft.com/office/drawing/2014/main" id="{65A026A1-4157-D47A-7261-C367C2DC72CF}"/>
              </a:ext>
            </a:extLst>
          </p:cNvPr>
          <p:cNvSpPr txBox="1"/>
          <p:nvPr/>
        </p:nvSpPr>
        <p:spPr>
          <a:xfrm>
            <a:off x="352632" y="1473818"/>
            <a:ext cx="5130331" cy="366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Organize Sales Data</a:t>
            </a:r>
            <a:br>
              <a:rPr lang="en-IN" sz="1400" dirty="0"/>
            </a:br>
            <a:r>
              <a:rPr lang="en-IN" sz="1400" dirty="0"/>
              <a:t>Manage and organize sales transactions in a structured Excel format.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Track Key Sales Metrics</a:t>
            </a:r>
            <a:br>
              <a:rPr lang="en-IN" sz="1400" dirty="0"/>
            </a:br>
            <a:r>
              <a:rPr lang="en-IN" sz="1400" dirty="0"/>
              <a:t>Track total revenue, units sold, transactions, and average unit price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 err="1"/>
              <a:t>Analyze</a:t>
            </a:r>
            <a:r>
              <a:rPr lang="en-IN" sz="1400" b="1" dirty="0"/>
              <a:t> Sales Performance</a:t>
            </a:r>
            <a:br>
              <a:rPr lang="en-IN" sz="1400" dirty="0"/>
            </a:br>
            <a:r>
              <a:rPr lang="en-IN" sz="1400" dirty="0" err="1"/>
              <a:t>Analyze</a:t>
            </a:r>
            <a:r>
              <a:rPr lang="en-IN" sz="1400" dirty="0"/>
              <a:t> sales based on product categories, regions, and payment methods.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Create an Interactive Dashboard</a:t>
            </a:r>
            <a:br>
              <a:rPr lang="en-IN" sz="1400" dirty="0"/>
            </a:br>
            <a:r>
              <a:rPr lang="en-IN" sz="1400" dirty="0"/>
              <a:t>Visualize sales performance using charts, graphs, and summaries for better analysis.</a:t>
            </a:r>
            <a:endParaRPr lang="en-US" sz="1400" dirty="0"/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9D782-023B-ABE8-010D-05EC178F5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47" y="1572428"/>
            <a:ext cx="2916750" cy="256926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5191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2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;p22">
            <a:extLst>
              <a:ext uri="{FF2B5EF4-FFF2-40B4-BE49-F238E27FC236}">
                <a16:creationId xmlns:a16="http://schemas.microsoft.com/office/drawing/2014/main" id="{CC2ED9E3-05F2-5ECD-DD5B-3430C263D9B6}"/>
              </a:ext>
            </a:extLst>
          </p:cNvPr>
          <p:cNvSpPr txBox="1">
            <a:spLocks/>
          </p:cNvSpPr>
          <p:nvPr/>
        </p:nvSpPr>
        <p:spPr>
          <a:xfrm>
            <a:off x="3171462" y="518332"/>
            <a:ext cx="8520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b="1" dirty="0">
                <a:solidFill>
                  <a:srgbClr val="002060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Project 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FA2675-942D-6145-BE9C-B1DD12941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59" y="1272988"/>
            <a:ext cx="8234082" cy="345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30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7;p22">
            <a:extLst>
              <a:ext uri="{FF2B5EF4-FFF2-40B4-BE49-F238E27FC236}">
                <a16:creationId xmlns:a16="http://schemas.microsoft.com/office/drawing/2014/main" id="{8896CF32-2381-134F-850C-1B4E39261E20}"/>
              </a:ext>
            </a:extLst>
          </p:cNvPr>
          <p:cNvSpPr txBox="1">
            <a:spLocks/>
          </p:cNvSpPr>
          <p:nvPr/>
        </p:nvSpPr>
        <p:spPr>
          <a:xfrm>
            <a:off x="842762" y="496478"/>
            <a:ext cx="8520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b="1" dirty="0">
                <a:solidFill>
                  <a:srgbClr val="002060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Future Scope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57335198-79A6-CAA5-2CC6-0BB009B8F43A}"/>
              </a:ext>
            </a:extLst>
          </p:cNvPr>
          <p:cNvSpPr txBox="1"/>
          <p:nvPr/>
        </p:nvSpPr>
        <p:spPr>
          <a:xfrm>
            <a:off x="131950" y="1311157"/>
            <a:ext cx="4888286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Sales Forecasting</a:t>
            </a:r>
            <a:br>
              <a:rPr lang="en-IN" sz="1400" dirty="0"/>
            </a:br>
            <a:r>
              <a:rPr lang="en-IN" sz="1400" dirty="0"/>
              <a:t>Predict future sales and demand using historical sales data.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Inventory Management</a:t>
            </a:r>
            <a:br>
              <a:rPr lang="en-IN" sz="1400" dirty="0"/>
            </a:br>
            <a:r>
              <a:rPr lang="en-IN" sz="1400" dirty="0"/>
              <a:t>Monitor stock levels and manage inventory efficiently.</a:t>
            </a:r>
          </a:p>
          <a:p>
            <a:r>
              <a:rPr lang="en-IN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Automated Reporting</a:t>
            </a:r>
            <a:br>
              <a:rPr lang="en-IN" sz="1400" dirty="0"/>
            </a:br>
            <a:r>
              <a:rPr lang="en-IN" sz="1400" dirty="0"/>
              <a:t>Generate sales reports automatically for faster analysis.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/>
              <a:t>Advanced Dashboard</a:t>
            </a:r>
            <a:br>
              <a:rPr lang="en-IN" sz="1400" dirty="0"/>
            </a:br>
            <a:r>
              <a:rPr lang="en-IN" sz="1400" dirty="0"/>
              <a:t>Add interactive filters, KPIs, and advanced visualizations for better insights.</a:t>
            </a:r>
          </a:p>
          <a:p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585690-C066-2DF4-0C0D-79279DDEF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751" y="1142768"/>
            <a:ext cx="3489262" cy="26782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21200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22">
            <a:extLst>
              <a:ext uri="{FF2B5EF4-FFF2-40B4-BE49-F238E27FC236}">
                <a16:creationId xmlns:a16="http://schemas.microsoft.com/office/drawing/2014/main" id="{2CBB2190-2983-5B07-C14F-C0C1B82BC484}"/>
              </a:ext>
            </a:extLst>
          </p:cNvPr>
          <p:cNvSpPr txBox="1">
            <a:spLocks/>
          </p:cNvSpPr>
          <p:nvPr/>
        </p:nvSpPr>
        <p:spPr>
          <a:xfrm>
            <a:off x="1228694" y="632010"/>
            <a:ext cx="8520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600" b="1" dirty="0">
                <a:solidFill>
                  <a:srgbClr val="002060"/>
                </a:solidFill>
                <a:effectLst>
                  <a:glow rad="101600">
                    <a:schemeClr val="tx1">
                      <a:lumMod val="85000"/>
                      <a:alpha val="60000"/>
                    </a:schemeClr>
                  </a:glow>
                </a:effectLst>
              </a:rPr>
              <a:t>Conclusion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F656EEBA-FCC6-FE6F-EAF7-837658983D56}"/>
              </a:ext>
            </a:extLst>
          </p:cNvPr>
          <p:cNvSpPr txBox="1"/>
          <p:nvPr/>
        </p:nvSpPr>
        <p:spPr>
          <a:xfrm>
            <a:off x="21113" y="1182255"/>
            <a:ext cx="5326742" cy="3580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dirty="0"/>
              <a:t>The project successfully </a:t>
            </a:r>
            <a:r>
              <a:rPr lang="en-IN" dirty="0" err="1"/>
              <a:t>analyze</a:t>
            </a:r>
            <a:r>
              <a:rPr lang="en-IN" dirty="0"/>
              <a:t> sales data using Microsoft Excel</a:t>
            </a:r>
            <a:r>
              <a:rPr lang="en-US" dirty="0"/>
              <a:t>. </a:t>
            </a:r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dirty="0"/>
              <a:t>It provides clear insights into revenue, units sold, transactions, categories, and regions.</a:t>
            </a:r>
            <a:endParaRPr lang="en-US" dirty="0"/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dirty="0"/>
              <a:t>The dashboard makes sales performance easier to understand through KPIs, charts, filters, and analysis.</a:t>
            </a:r>
            <a:endParaRPr lang="en-US" dirty="0"/>
          </a:p>
          <a:p>
            <a:pPr marL="285750" indent="-285750"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IN" dirty="0"/>
              <a:t>The workbook can be updated with new transactions and the analysis can be refreshed for future use. 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48352-9609-7BDD-2D08-71A32A51E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073" y="1440873"/>
            <a:ext cx="3306620" cy="27417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04766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3000">
        <p:fade/>
      </p:transition>
    </mc:Choice>
    <mc:Fallback>
      <p:transition spd="med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7F564A-F96D-9253-4DFB-4FFEB8A88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82" y="803564"/>
            <a:ext cx="8266545" cy="41194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 advClick="0" advTm="3000">
        <p15:prstTrans prst="curtains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c0fa2617-96bd-425d-8578-e93563fe37c5"/>
    <ds:schemaRef ds:uri="9162bd5b-4ed9-4da3-b376-05204580ba3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379</TotalTime>
  <Words>216</Words>
  <Application>Microsoft Office PowerPoint</Application>
  <PresentationFormat>On-screen Show (16:9)</PresentationFormat>
  <Paragraphs>33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Nirupama Dwivedi</cp:lastModifiedBy>
  <cp:revision>29</cp:revision>
  <dcterms:modified xsi:type="dcterms:W3CDTF">2026-09-23T09:19:39Z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